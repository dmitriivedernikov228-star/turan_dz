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70" r:id="rId12"/>
    <p:sldId id="264" r:id="rId13"/>
    <p:sldId id="265" r:id="rId14"/>
    <p:sldId id="267" r:id="rId15"/>
    <p:sldId id="268" r:id="rId16"/>
    <p:sldId id="269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E1E1212-6495-4AA4-BB62-6B6681A25DBF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band2V>
      <a:tcStyle>
        <a:tcBdr/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/>
      <a:tcStyle>
        <a:tcBdr>
          <a:bottom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391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8" name="Google Shape;88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" name="Google Shape;131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9" name="Google Shape;139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5" name="Google Shape;175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3" name="Google Shape;183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1" name="Google Shape;191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Заголовок и объект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Титульный слайд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Заголовок раздела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Два объекта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Сравнение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39" name="Google Shape;39;p6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Только заголовок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Пустой слайд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Объект с подписью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Рисунок с подписью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Заголовок и вертикальный текст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Вертикальный заголовок и текст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</a:fld>
            <a:endParaRPr lang="ru-RU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" name="Изображение 0"/>
          <p:cNvPicPr/>
          <p:nvPr/>
        </p:nvPicPr>
        <p:blipFill>
          <a:blip r:embed="rId2"/>
          <a:stretch>
            <a:fillRect/>
          </a:stretch>
        </p:blipFill>
        <p:spPr>
          <a:xfrm>
            <a:off x="3524250" y="857250"/>
            <a:ext cx="47625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1367073" y="1949419"/>
            <a:ext cx="9777743" cy="1217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 panose="02020603050405020304"/>
              <a:buNone/>
            </a:pPr>
            <a:r>
              <a:rPr lang="ru-RU" sz="4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Самостоятельная работа студента</a:t>
            </a:r>
            <a:endParaRPr lang="ru-RU" sz="4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91" name="Google Shape;91;p1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804862" y="3167390"/>
            <a:ext cx="1058873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Тема: </a:t>
            </a:r>
            <a:r>
              <a:rPr lang="ru-RU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ru-RU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RFID </a:t>
            </a:r>
            <a:r>
              <a:rPr lang="en-US" alt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идентификация</a:t>
            </a:r>
            <a:r>
              <a:rPr lang="ru-RU" altLang="en-US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ru-RU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на Arduino</a:t>
            </a:r>
            <a:endParaRPr sz="2400" b="0" i="0" u="none" strike="noStrike" cap="none">
              <a:solidFill>
                <a:srgbClr val="1E4E7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900112" y="5080883"/>
            <a:ext cx="5673115" cy="72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Выполнила: Ведерников.Д.М</a:t>
            </a:r>
            <a:endParaRPr sz="20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 panose="02020603050405020304"/>
              <a:buNone/>
            </a:pPr>
            <a:r>
              <a:rPr lang="ru-RU"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Группа: ИС 252(3)</a:t>
            </a:r>
            <a:endParaRPr lang="ru-RU" sz="20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900112" y="5729216"/>
            <a:ext cx="5355833" cy="93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r>
              <a:rPr lang="ru-RU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Электронный адрес: </a:t>
            </a:r>
            <a:r>
              <a:rPr lang="en-US" altLang="ru-RU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25260795@turan-edu.kz</a:t>
            </a:r>
            <a:endParaRPr lang="en-US" altLang="ru-RU"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>
            <p:ph type="title"/>
          </p:nvPr>
        </p:nvSpPr>
        <p:spPr>
          <a:xfrm>
            <a:off x="1025492" y="638219"/>
            <a:ext cx="10515600" cy="100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</a:pPr>
            <a:r>
              <a:rPr lang="ru-RU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Содержание</a:t>
            </a:r>
            <a:endParaRPr sz="2400" b="1">
              <a:solidFill>
                <a:srgbClr val="FFC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3" name="Google Shape;103;p15"/>
          <p:cNvSpPr txBox="1"/>
          <p:nvPr>
            <p:ph type="body" idx="1"/>
          </p:nvPr>
        </p:nvSpPr>
        <p:spPr>
          <a:xfrm>
            <a:off x="898676" y="1548142"/>
            <a:ext cx="10650648" cy="357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Введение</a:t>
            </a:r>
            <a:endParaRPr lang="ru-RU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Схема 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RFID</a:t>
            </a:r>
            <a:endParaRPr lang="ru-RU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Список компонентов</a:t>
            </a:r>
            <a:endParaRPr lang="ru-RU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Скетч</a:t>
            </a:r>
            <a:endParaRPr lang="ru-RU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Результат работы</a:t>
            </a:r>
            <a:endParaRPr lang="ru-RU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Заключение</a:t>
            </a:r>
            <a:endParaRPr lang="ru-RU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Список литературы</a:t>
            </a:r>
            <a:endParaRPr lang="ru-RU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048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048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0480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>
            <p:ph type="title"/>
          </p:nvPr>
        </p:nvSpPr>
        <p:spPr>
          <a:xfrm>
            <a:off x="1025492" y="638219"/>
            <a:ext cx="10515600" cy="100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</a:pPr>
            <a:r>
              <a:rPr lang="ru-RU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Введение</a:t>
            </a:r>
            <a:endParaRPr sz="2400" b="1">
              <a:solidFill>
                <a:srgbClr val="FFC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1" name="Google Shape;111;p16"/>
          <p:cNvSpPr txBox="1"/>
          <p:nvPr>
            <p:ph type="body" idx="1"/>
          </p:nvPr>
        </p:nvSpPr>
        <p:spPr>
          <a:xfrm>
            <a:off x="898676" y="1548142"/>
            <a:ext cx="10650648" cy="3571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45021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RFID‑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идентификация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на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базе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микроконтроллеров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всё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шире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используется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в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современных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системах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контроля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управления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доступом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В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отличие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от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традиционных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ключей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кодовых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замков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RFID‑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технология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обеспечивает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бесконтактное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распознавание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пользователя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по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уникальной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метке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позволяет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автоматически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принимать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решение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предоставлении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доступа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В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данной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работе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будет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разработано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устройство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контроля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доступа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на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основе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платы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Arduino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RFID‑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модуля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управляющее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сервоприводом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запорного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механизма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попытке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доступа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неавторизованной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карты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система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будет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отклонять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запрос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подавать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световой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сигнал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тревоги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lang="en-US" altLang="ru-RU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>
            <p:ph type="title"/>
          </p:nvPr>
        </p:nvSpPr>
        <p:spPr>
          <a:xfrm>
            <a:off x="1065222" y="576544"/>
            <a:ext cx="10515600" cy="100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</a:pPr>
            <a:r>
              <a:rPr lang="ru-RU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Схема</a:t>
            </a:r>
            <a:r>
              <a:rPr lang="en-US" altLang="ru-RU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RFID</a:t>
            </a:r>
            <a:endParaRPr lang="en-US" altLang="ru-RU" sz="2400" b="1">
              <a:solidFill>
                <a:srgbClr val="FFC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3408363" y="5662151"/>
            <a:ext cx="6096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Рисунок 1 – Схема </a:t>
            </a:r>
            <a:r>
              <a:rPr lang="en-US" altLang="ru-RU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RFID</a:t>
            </a:r>
            <a:endParaRPr sz="2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" name="Изображение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220" y="1511300"/>
            <a:ext cx="8569960" cy="42202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8"/>
          <p:cNvSpPr txBox="1"/>
          <p:nvPr>
            <p:ph type="title"/>
          </p:nvPr>
        </p:nvSpPr>
        <p:spPr>
          <a:xfrm>
            <a:off x="1111217" y="701423"/>
            <a:ext cx="10515600" cy="100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</a:pPr>
            <a:r>
              <a:rPr lang="ru-RU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Список компонентов</a:t>
            </a:r>
            <a:endParaRPr sz="2400" b="1">
              <a:solidFill>
                <a:srgbClr val="FFC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128" name="Google Shape;128;p18"/>
          <p:cNvGraphicFramePr/>
          <p:nvPr>
            <p:custDataLst>
              <p:tags r:id="rId3"/>
            </p:custDataLst>
          </p:nvPr>
        </p:nvGraphicFramePr>
        <p:xfrm>
          <a:off x="952500" y="1711325"/>
          <a:ext cx="10528935" cy="4490085"/>
        </p:xfrm>
        <a:graphic>
          <a:graphicData uri="http://schemas.openxmlformats.org/drawingml/2006/table">
            <a:tbl>
              <a:tblPr>
                <a:noFill/>
                <a:tableStyleId>{5E1E1212-6495-4AA4-BB62-6B6681A25DBF}</a:tableStyleId>
              </a:tblPr>
              <a:tblGrid>
                <a:gridCol w="3509645"/>
                <a:gridCol w="3509645"/>
                <a:gridCol w="3509645"/>
              </a:tblGrid>
              <a:tr h="46418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Имя</a:t>
                      </a:r>
                      <a:endParaRPr lang="ru-RU" sz="1400" u="none" strike="noStrike" cap="none"/>
                    </a:p>
                  </a:txBody>
                  <a:tcPr marL="103100" marR="103100" marT="85900" marB="85900" anchor="ctr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Количество</a:t>
                      </a:r>
                      <a:endParaRPr lang="ru-RU" sz="1400" u="none" strike="noStrike" cap="none"/>
                    </a:p>
                  </a:txBody>
                  <a:tcPr marL="103100" marR="103100" marT="85900" marB="85900" anchor="ctr">
                    <a:solidFill>
                      <a:srgbClr val="2E75B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u="none" strike="noStrike" cap="none"/>
                        <a:t>Компонент</a:t>
                      </a:r>
                      <a:endParaRPr lang="ru-RU" sz="1400" u="none" strike="noStrike" cap="none"/>
                    </a:p>
                  </a:txBody>
                  <a:tcPr marL="103100" marR="103100" marT="85900" marB="85900" anchor="ctr">
                    <a:solidFill>
                      <a:srgbClr val="2E75B5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Имя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Количество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Компонент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</a:tr>
              <a:tr h="32829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U1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Плата Arduino Uno R3 (либо совместимая)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</a:tr>
              <a:tr h="74866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U2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Модуль RFID‑считывателя RC522 (интерфейс SPI)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</a:tr>
              <a:tr h="32829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U3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Сервопривод (микросерво 5 В, типа SG90)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D1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Красный светодиод (индикация «доступ запрещён»)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</a:tr>
              <a:tr h="32893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D2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Зелёный светодиод (индикация «доступ разрешён»)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</a:tr>
              <a:tr h="32702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R1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Резистор для зелёного светодиода, 220–330 Ом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</a:tr>
              <a:tr h="32766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R2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Резистор для красного светодиода, 220–330 Ом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</a:tr>
              <a:tr h="327660"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J1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Макетная плата (breadboard)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</a:tr>
              <a:tr h="327660"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W1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набор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  <a:tc>
                  <a:txBody>
                    <a:bodyPr/>
                    <a:p>
                      <a:pPr algn="l"/>
                      <a:r>
                        <a:rPr lang="en-US" altLang="zh-CN" sz="1100">
                          <a:latin typeface="Arial" panose="020B0604020202020204"/>
                          <a:ea typeface="Arial" panose="020B0604020202020204"/>
                        </a:rPr>
                        <a:t>Набор соединительных проводов (м–м)</a:t>
                      </a:r>
                      <a:endParaRPr lang="en-US" altLang="zh-CN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51117" marR="51117" marT="51117" marB="5111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 txBox="1"/>
          <p:nvPr>
            <p:ph type="title"/>
          </p:nvPr>
        </p:nvSpPr>
        <p:spPr>
          <a:xfrm>
            <a:off x="1082642" y="491873"/>
            <a:ext cx="10515600" cy="100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</a:pPr>
            <a:r>
              <a:rPr lang="ru-RU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Скетч</a:t>
            </a:r>
            <a:endParaRPr sz="2400" b="1">
              <a:solidFill>
                <a:srgbClr val="FFC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971551" y="1424761"/>
            <a:ext cx="10848974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#include &lt;Servo.h&gt;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#include &lt;SPI.h&gt;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#include &lt;MFRC522.h&gt;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Пины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подключения</a:t>
            </a:r>
            <a:endParaRPr lang="en-US" altLang="en-US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#define SS_PIN      10      // SS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для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RFID‑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модуля</a:t>
            </a:r>
            <a:endParaRPr lang="en-US" altLang="en-US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#define RST_PIN     9       // RST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для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RFID‑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модуля</a:t>
            </a:r>
            <a:endParaRPr lang="en-US" altLang="en-US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#define GREEN_LED   5       //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зелёный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светодиод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(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доступ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разрешён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#define RED_LED     6       //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красный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светодиод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(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доступ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запрещён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#define SERVO_PIN   3       //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сервопривод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«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замка</a:t>
            </a:r>
            <a:r>
              <a:rPr lang="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»</a:t>
            </a:r>
            <a:endParaRPr lang="" altLang="en-US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Servo lockServo;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MFRC522 rfid(SS_PIN, RST_PIN);   //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объект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считывателя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RFID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// UID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карты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,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которой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разрешён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доступ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(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подставь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свой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UID)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const String AUTH_UID = "BD 31 15 2B";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void setup() {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Serial.begin(9600);      //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монитор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порта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для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отладки</a:t>
            </a:r>
            <a:endParaRPr lang="en-US" altLang="en-US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SPI.begin();             //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запуск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SPI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rfid.PCD_Init();         //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инициализация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RFID‑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модуля</a:t>
            </a:r>
            <a:endParaRPr lang="en-US" altLang="en-US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pinMode(GREEN_LED, OUTPUT);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pinMode(RED_LED, OUTPUT);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/>
          <p:nvPr>
            <p:ph type="title"/>
          </p:nvPr>
        </p:nvSpPr>
        <p:spPr>
          <a:xfrm>
            <a:off x="1082642" y="491873"/>
            <a:ext cx="10515600" cy="100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</a:pPr>
            <a:r>
              <a:rPr lang="ru-RU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Скетч</a:t>
            </a:r>
            <a:endParaRPr sz="2400" b="1">
              <a:solidFill>
                <a:srgbClr val="FFC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958177" y="1234261"/>
            <a:ext cx="11180521" cy="544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lockServo.attach(SERVO_PIN);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lockServo.write(0);      //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замок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закрыт</a:t>
            </a:r>
            <a:endParaRPr lang="en-US" altLang="en-US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void loop() {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//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Если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нет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новой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карты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—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ничего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не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делаем</a:t>
            </a:r>
            <a:endParaRPr lang="en-US" altLang="en-US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if (!rfid.PICC_IsNewCardPresent()) {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return;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}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//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Если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не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удалось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прочитать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карту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—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выходим</a:t>
            </a:r>
            <a:endParaRPr lang="en-US" altLang="en-US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if (!rfid.PICC_ReadCardSerial()) {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return;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}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//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Собираем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UID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в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строку</a:t>
            </a:r>
            <a:endParaRPr lang="en-US" altLang="en-US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Serial.print("UID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метки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: ");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String uidString = "";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for (byte i = 0; i &lt; rfid.uid.size; i++) {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Serial.print(rfid.uid.uidByte[i] &lt; 0x10 ? " 0" : " ");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Serial.print(rfid.uid.uidByte[i], HEX);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uidString.concat(rfid.uid.uidByte[i] &lt; 0x10 ? " 0" : " ");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uidString.concat(String(rfid.uid.uidByte[i], HEX));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}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Serial.println();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</a:t>
            </a:r>
            <a:endParaRPr 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/>
          <p:nvPr>
            <p:ph type="title"/>
          </p:nvPr>
        </p:nvSpPr>
        <p:spPr>
          <a:xfrm>
            <a:off x="1082642" y="491873"/>
            <a:ext cx="10515600" cy="100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</a:pPr>
            <a:r>
              <a:rPr lang="ru-RU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Скетч</a:t>
            </a:r>
            <a:endParaRPr sz="2400" b="1">
              <a:solidFill>
                <a:srgbClr val="FFC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958177" y="1234261"/>
            <a:ext cx="11180521" cy="5447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//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Приводим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к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верхнему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регистру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,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чтобы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сравнение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было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корректным</a:t>
            </a:r>
            <a:endParaRPr lang="en-US" altLang="en-US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uidString.toUpperCase();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Serial.print("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Результат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: ");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//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Сравниваем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со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строкой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разрешённого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UID (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пропускаем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первый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пробел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)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if (uidString.substring(1) == AUTH_UID) {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Serial.println("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доступ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разрешён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");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//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Открываем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«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замок</a:t>
            </a:r>
            <a:r>
              <a:rPr lang="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»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и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включаем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зелёный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светодиод</a:t>
            </a:r>
            <a:endParaRPr lang="en-US" altLang="en-US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lockServo.write(180);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digitalWrite(GREEN_LED, HIGH);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delay(3000);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//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Закрываем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замок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,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выключаем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зелёный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светодиод</a:t>
            </a:r>
            <a:endParaRPr lang="en-US" altLang="en-US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lockServo.write(0);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digitalWrite(GREEN_LED, LOW);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} else {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Serial.println("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доступ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запрещён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");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//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Включаем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красный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светодиод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как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сигнал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тревоги</a:t>
            </a:r>
            <a:endParaRPr lang="en-US" altLang="en-US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digitalWrite(RED_LED, HIGH);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delay(3000);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  digitalWrite(RED_LED, LOW);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}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//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Отключаем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текущую</a:t>
            </a: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</a:t>
            </a:r>
            <a:r>
              <a:rPr lang="en-US" altLang="en-US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карту</a:t>
            </a:r>
            <a:endParaRPr lang="en-US" altLang="en-US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rfid.PICC_HaltA();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rfid.PCD_StopCrypto1();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}</a:t>
            </a: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ru-RU" sz="120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</a:t>
            </a:r>
            <a:endParaRPr lang="ru-RU" sz="120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/>
          <p:nvPr>
            <p:ph type="title"/>
          </p:nvPr>
        </p:nvSpPr>
        <p:spPr>
          <a:xfrm>
            <a:off x="1082642" y="491873"/>
            <a:ext cx="10515600" cy="100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</a:pPr>
            <a:r>
              <a:rPr lang="ru-RU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Результат работы</a:t>
            </a:r>
            <a:endParaRPr sz="2400" b="1">
              <a:solidFill>
                <a:srgbClr val="FFC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3408363" y="5662151"/>
            <a:ext cx="6096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Рисунок 2 – Изначальное положение</a:t>
            </a:r>
            <a:endParaRPr lang="ru-RU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" name="Изображение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590" y="1304925"/>
            <a:ext cx="5017135" cy="41141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 txBox="1"/>
          <p:nvPr>
            <p:ph type="title"/>
          </p:nvPr>
        </p:nvSpPr>
        <p:spPr>
          <a:xfrm>
            <a:off x="1082642" y="491873"/>
            <a:ext cx="10515600" cy="100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</a:pPr>
            <a:r>
              <a:rPr lang="ru-RU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Результат работы</a:t>
            </a:r>
            <a:endParaRPr sz="2400" b="1">
              <a:solidFill>
                <a:srgbClr val="FFC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1" name="Google Shape;161;p22"/>
          <p:cNvSpPr/>
          <p:nvPr/>
        </p:nvSpPr>
        <p:spPr>
          <a:xfrm>
            <a:off x="1866899" y="5662151"/>
            <a:ext cx="930592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Рисунок 3 – Работа детектора при использовании </a:t>
            </a:r>
            <a:r>
              <a:rPr lang="en-US" altLang="ru-RU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RFID</a:t>
            </a:r>
            <a:r>
              <a:rPr lang="ru-RU" altLang="en-US" sz="24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метки</a:t>
            </a:r>
            <a:endParaRPr lang="ru-RU" altLang="en-US" sz="24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" name="Изображение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240" y="1292225"/>
            <a:ext cx="5791835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4"/>
          <p:cNvSpPr txBox="1"/>
          <p:nvPr>
            <p:ph type="title"/>
          </p:nvPr>
        </p:nvSpPr>
        <p:spPr>
          <a:xfrm>
            <a:off x="1082642" y="491873"/>
            <a:ext cx="10515600" cy="100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</a:pPr>
            <a:r>
              <a:rPr lang="ru-RU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Заключение</a:t>
            </a:r>
            <a:endParaRPr sz="2400" b="1">
              <a:solidFill>
                <a:srgbClr val="FFC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0" name="Google Shape;180;p24"/>
          <p:cNvSpPr txBox="1"/>
          <p:nvPr>
            <p:ph type="body" idx="1"/>
          </p:nvPr>
        </p:nvSpPr>
        <p:spPr>
          <a:xfrm>
            <a:off x="829146" y="1267485"/>
            <a:ext cx="10650648" cy="517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45021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Разработанная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система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RFID‑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идентификации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на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базе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Arduino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обеспечивает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удобный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наглядный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контроль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доступа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за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счёт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бесконтактного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распознавания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пользователей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по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уникальным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меткам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Реализованный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алгоритм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сравнения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UID‑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карт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перечнем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разрешённых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идентификаторов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позволяет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надёжно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разделять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авторизованных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неавторизованных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пользователей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а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управление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сервоприводом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световой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индикацией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обеспечивает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наглядную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обратную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связь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результатах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проверки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Благодаря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простоте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схемы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программной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части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такую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систему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можно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легко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масштабировать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добавляя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новые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карты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уровни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доступа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или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дополнительные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элементы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безопасности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что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делает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её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пригодной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как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для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учебных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целей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так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для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практического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применения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в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бытовых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малых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офисных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объектах</a:t>
            </a:r>
            <a:r>
              <a:rPr lang="en-US" altLang="ru-RU" sz="24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  <a:endParaRPr lang="en-US" altLang="ru-RU" sz="24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5"/>
          <p:cNvSpPr txBox="1"/>
          <p:nvPr>
            <p:ph type="title"/>
          </p:nvPr>
        </p:nvSpPr>
        <p:spPr>
          <a:xfrm>
            <a:off x="1082642" y="491873"/>
            <a:ext cx="10515600" cy="100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 panose="02020603050405020304"/>
              <a:buNone/>
            </a:pPr>
            <a:r>
              <a:rPr lang="ru-RU" sz="2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Список литературы</a:t>
            </a:r>
            <a:endParaRPr sz="2400" b="1">
              <a:solidFill>
                <a:srgbClr val="FFC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8" name="Google Shape;188;p25"/>
          <p:cNvSpPr txBox="1"/>
          <p:nvPr>
            <p:ph type="body" idx="1"/>
          </p:nvPr>
        </p:nvSpPr>
        <p:spPr>
          <a:xfrm>
            <a:off x="829146" y="1267485"/>
            <a:ext cx="10650648" cy="517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lvl="0" indent="45021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ru-RU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Rangkaian Sistem Keamanan berbasis Arduino dan RFID RC522 // CRONYOS.COM: tutorial elektronika dan mikrokontroler. 2018. URL: https://www.cronyos.com/rangkaian-sistem-keamanan-berbasis-arduino-dan-rfid-rc522/ (</a:t>
            </a:r>
            <a:r>
              <a:rPr lang="en-US" alt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дата</a:t>
            </a:r>
            <a:r>
              <a:rPr lang="en-US" altLang="ru-RU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обращения</a:t>
            </a:r>
            <a:r>
              <a:rPr lang="en-US" altLang="ru-RU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08.12.2025).​</a:t>
            </a:r>
            <a:endParaRPr lang="en-US" altLang="ru-RU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45021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ru-RU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45021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ru-RU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Automatic Access Control System using Arduino and RFID // Journal of Scientific and Engineering Research. 2018. URL: https://jsaer.com/download/vol-5-iss-4-2018/JSAER2018-05-04-333-340.pdf (</a:t>
            </a:r>
            <a:r>
              <a:rPr lang="en-US" alt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дата</a:t>
            </a:r>
            <a:r>
              <a:rPr lang="en-US" altLang="ru-RU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обращения</a:t>
            </a:r>
            <a:r>
              <a:rPr lang="en-US" altLang="ru-RU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08.12.2025).​</a:t>
            </a:r>
            <a:endParaRPr lang="en-US" altLang="ru-RU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45021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ru-RU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45021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ru-RU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Security Access using MFRC522 RFID Reader with Arduino // RANDOM NERD TUTORIALS: electronics projects and tutorials. 2023. URL: https://randomnerdtutorials.com/security-access-using-mfrc522-rfid-reader-with-arduino/ (</a:t>
            </a:r>
            <a:r>
              <a:rPr lang="en-US" alt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дата</a:t>
            </a:r>
            <a:r>
              <a:rPr lang="en-US" altLang="ru-RU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обращения</a:t>
            </a:r>
            <a:r>
              <a:rPr lang="en-US" altLang="ru-RU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08.12.2025).​</a:t>
            </a:r>
            <a:endParaRPr lang="en-US" altLang="ru-RU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45021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ru-RU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45021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ru-RU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RFID NFC Door Lock System – Arduino Tutorial // CIRCUITS‑DIY.COM: electronics circuits and projects. 2024. URL: https://www.circuits-diy.com/rfid-nfc-door-lock-system-arduino-tutorial/ (</a:t>
            </a:r>
            <a:r>
              <a:rPr lang="en-US" alt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дата</a:t>
            </a:r>
            <a:r>
              <a:rPr lang="en-US" altLang="ru-RU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обращения</a:t>
            </a:r>
            <a:r>
              <a:rPr lang="en-US" altLang="ru-RU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08.12.2025).​</a:t>
            </a:r>
            <a:endParaRPr lang="en-US" altLang="ru-RU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45021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ru-RU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450215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ru-RU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Access Control Using RFID and Arduino // Academia.edu: research papers repository. 2015. URL: https://www.academia.edu/17455298/Access_Control_Using_RFID_and_Arduino (</a:t>
            </a:r>
            <a:r>
              <a:rPr lang="en-US" alt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дата</a:t>
            </a:r>
            <a:r>
              <a:rPr lang="en-US" altLang="ru-RU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обращения</a:t>
            </a:r>
            <a:r>
              <a:rPr lang="en-US" altLang="ru-RU"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 08.12.2025)</a:t>
            </a:r>
            <a:endParaRPr lang="en-US" altLang="ru-RU" sz="20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1" y="0"/>
            <a:ext cx="37147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2085397" y="0"/>
            <a:ext cx="1066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6"/>
          <p:cNvSpPr txBox="1"/>
          <p:nvPr>
            <p:ph type="title"/>
          </p:nvPr>
        </p:nvSpPr>
        <p:spPr>
          <a:xfrm>
            <a:off x="3065875" y="2408222"/>
            <a:ext cx="6010143" cy="1790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ru-RU" sz="49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СПАСИБО</a:t>
            </a:r>
            <a:br>
              <a:rPr lang="ru-RU" sz="49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ru-RU" sz="49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за внимание!</a:t>
            </a:r>
            <a:br>
              <a:rPr lang="ru-RU">
                <a:solidFill>
                  <a:srgbClr val="FF0000"/>
                </a:solidFill>
              </a:rPr>
            </a:br>
            <a:endParaRPr lang="ru-RU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9*226"/>
  <p:tag name="TABLE_ENDDRAG_RECT" val="75*134*829*226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5521</Words>
  <Application>WPS Presentation</Application>
  <PresentationFormat/>
  <Paragraphs>219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Times New Roman</vt:lpstr>
      <vt:lpstr>Courier New</vt:lpstr>
      <vt:lpstr>Microsoft YaHei</vt:lpstr>
      <vt:lpstr>Arial Unicode MS</vt:lpstr>
      <vt:lpstr>Тема Office</vt:lpstr>
      <vt:lpstr>PowerPoint 演示文稿</vt:lpstr>
      <vt:lpstr>Самостоятельная работа студента</vt:lpstr>
      <vt:lpstr>Содержание</vt:lpstr>
      <vt:lpstr>Введение</vt:lpstr>
      <vt:lpstr>Схема в TinkerCad</vt:lpstr>
      <vt:lpstr>Список компонентов</vt:lpstr>
      <vt:lpstr>Скетч</vt:lpstr>
      <vt:lpstr>Скетч</vt:lpstr>
      <vt:lpstr>Скетч</vt:lpstr>
      <vt:lpstr>Результат работы</vt:lpstr>
      <vt:lpstr>Результат работы</vt:lpstr>
      <vt:lpstr>Заключение</vt:lpstr>
      <vt:lpstr>Список литературы</vt:lpstr>
      <vt:lpstr>СПАСИБО за внимание!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Дмитрий Ведерни�</cp:lastModifiedBy>
  <cp:revision>5</cp:revision>
  <dcterms:created xsi:type="dcterms:W3CDTF">2025-12-06T15:04:00Z</dcterms:created>
  <dcterms:modified xsi:type="dcterms:W3CDTF">2025-12-07T19:30:06Z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CE63B7AFCEDA406E8AACCC098E4983BD_13</vt:lpwstr>
  </property>
  <property fmtid="{D5CDD505-2E9C-101B-9397-08002B2CF9AE}" pid="3" name="KSOProductBuildVer">
    <vt:lpwstr>1049-12.2.0.23149</vt:lpwstr>
  </property>
</Properties>
</file>